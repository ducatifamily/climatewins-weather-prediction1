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63" r:id="rId6"/>
    <p:sldId id="269" r:id="rId7"/>
    <p:sldId id="270" r:id="rId8"/>
    <p:sldId id="267" r:id="rId9"/>
    <p:sldId id="260" r:id="rId10"/>
    <p:sldId id="262" r:id="rId11"/>
  </p:sldIdLst>
  <p:sldSz cx="9753600" cy="5486400"/>
  <p:notesSz cx="5486400" cy="97536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487" autoAdjust="0"/>
  </p:normalViewPr>
  <p:slideViewPr>
    <p:cSldViewPr snapToGrid="0" snapToObjects="1">
      <p:cViewPr varScale="1">
        <p:scale>
          <a:sx n="109" d="100"/>
          <a:sy n="109" d="100"/>
        </p:scale>
        <p:origin x="14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24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and thank you for taking the time to review my </a:t>
            </a:r>
            <a:r>
              <a:rPr lang="en-US" dirty="0" err="1"/>
              <a:t>ClimateWins</a:t>
            </a:r>
            <a:r>
              <a:rPr lang="en-US" dirty="0"/>
              <a:t> project.</a:t>
            </a:r>
          </a:p>
          <a:p>
            <a:r>
              <a:rPr lang="en-US" dirty="0"/>
              <a:t>My name is Kristina Noriega, and today I’ll be presenting the results of my machine learning analysis focused on European weather data.</a:t>
            </a:r>
          </a:p>
          <a:p>
            <a:r>
              <a:rPr lang="en-US" dirty="0"/>
              <a:t>The goal of this project was to explore how machine learning can help </a:t>
            </a:r>
            <a:r>
              <a:rPr lang="en-US" dirty="0" err="1"/>
              <a:t>ClimateWins</a:t>
            </a:r>
            <a:r>
              <a:rPr lang="en-US" dirty="0"/>
              <a:t> better understand changing weather patterns, identify anomalies, and support long-term climate planning and safety decisions across Europe.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ClimateWins</a:t>
            </a:r>
            <a:r>
              <a:rPr lang="en-US" dirty="0"/>
              <a:t> is interested in understanding how weather patterns are changing over time and whether machine learning can improve forecasting and risk assessment.</a:t>
            </a:r>
          </a:p>
          <a:p>
            <a:r>
              <a:rPr lang="en-US" dirty="0"/>
              <a:t>Specifically, this project focused on four key objectives.</a:t>
            </a:r>
          </a:p>
          <a:p>
            <a:r>
              <a:rPr lang="en-US" dirty="0"/>
              <a:t>First, identifying weather patterns that fall outside of regional norms.</a:t>
            </a:r>
            <a:br>
              <a:rPr lang="en-US" dirty="0"/>
            </a:br>
            <a:r>
              <a:rPr lang="en-US" dirty="0"/>
              <a:t>Second, determining whether unusual weather events are becoming more frequent.</a:t>
            </a:r>
            <a:br>
              <a:rPr lang="en-US" dirty="0"/>
            </a:br>
            <a:r>
              <a:rPr lang="en-US" dirty="0"/>
              <a:t>Third, exploring possible future weather conditions over the next twenty-five to fifty years.</a:t>
            </a:r>
            <a:br>
              <a:rPr lang="en-US" dirty="0"/>
            </a:br>
            <a:r>
              <a:rPr lang="en-US" dirty="0"/>
              <a:t>And finally, supporting decisions about the safest places for people to live in Europe as climate conditions continue to change.</a:t>
            </a:r>
          </a:p>
          <a:p>
            <a:r>
              <a:rPr lang="en-US" dirty="0"/>
              <a:t>To address these goals, I explored multiple machine learning approaches rather than relying on a single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D094-DF63-8811-96F5-7A28A9DA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0344B-AF9B-7513-093F-A59F5FD1C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24F81-4E6A-4083-7496-0462FED5C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different machine learning methods were explored during this project.</a:t>
            </a:r>
          </a:p>
          <a:p>
            <a:r>
              <a:rPr lang="en-US" dirty="0"/>
              <a:t>I began with unsupervised learning techniques, including principal component analysis and clustering, to explore patterns in the data without predefined labels.</a:t>
            </a:r>
          </a:p>
          <a:p>
            <a:r>
              <a:rPr lang="en-US" dirty="0"/>
              <a:t>I then implemented supervised learning approaches, including Random Forest models, to understand feature importance and improve predictive accuracy.</a:t>
            </a:r>
          </a:p>
          <a:p>
            <a:r>
              <a:rPr lang="en-US" dirty="0"/>
              <a:t>Deep learning methods, specifically convolutional neural networks, were explored to evaluate whether more complex models could better classify extreme weather conditions.</a:t>
            </a:r>
          </a:p>
          <a:p>
            <a:r>
              <a:rPr lang="en-US" dirty="0"/>
              <a:t>Finally, I explored Generative Adversarial Networks conceptually as a possible future approach for simulating rare or extreme weather scenarios.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0EA47-5D02-E556-C846-6478C0264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33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dataset used in this project consisted of historical European weather observations, including temperature, precipitation, radiation, and sunshine measures across multiple stations.</a:t>
            </a:r>
          </a:p>
          <a:p>
            <a:r>
              <a:rPr lang="en-US" dirty="0"/>
              <a:t>While this dataset was sufficient for exploratory analysis and model training, additional data would be required for </a:t>
            </a:r>
            <a:r>
              <a:rPr lang="en-US" dirty="0" err="1"/>
              <a:t>ClimateWins</a:t>
            </a:r>
            <a:r>
              <a:rPr lang="en-US" dirty="0"/>
              <a:t> to fully achieve its long-term goals.</a:t>
            </a:r>
          </a:p>
          <a:p>
            <a:r>
              <a:rPr lang="en-US" dirty="0"/>
              <a:t>This would include climate projection data, geographic and elevation information, population density and infrastructure data, and detailed records of extreme weather events.</a:t>
            </a:r>
          </a:p>
          <a:p>
            <a:r>
              <a:rPr lang="en-US" dirty="0"/>
              <a:t>Combining these datasets would allow </a:t>
            </a:r>
            <a:r>
              <a:rPr lang="en-US" dirty="0" err="1"/>
              <a:t>ClimateWins</a:t>
            </a:r>
            <a:r>
              <a:rPr lang="en-US" dirty="0"/>
              <a:t> to connect weather predictions to real-world human impact and safety planning.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103B-30DA-2CC5-AF3F-E5E6A5A8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CD8D8-7468-2366-4F2E-8D7224BAC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CAAC6-CC2A-AFFE-D392-A487B7C55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thought experiment explores whether unsupervised learning can identify emerging climate anomalies before they are obvious to human analysts.</a:t>
            </a:r>
          </a:p>
          <a:p>
            <a:r>
              <a:rPr lang="en-US" dirty="0"/>
              <a:t>Using techniques such as PCA and clustering, historical weather data can be grouped into patterns based on similarity rather than predefined categories.</a:t>
            </a:r>
          </a:p>
          <a:p>
            <a:r>
              <a:rPr lang="en-US" dirty="0"/>
              <a:t>If these clusters begin to shift over time, it could indicate that regional climates are changing in meaningful ways.</a:t>
            </a:r>
          </a:p>
          <a:p>
            <a:r>
              <a:rPr lang="en-US" dirty="0"/>
              <a:t>This approach directly supports </a:t>
            </a:r>
            <a:r>
              <a:rPr lang="en-US" dirty="0" err="1"/>
              <a:t>ClimateWins</a:t>
            </a:r>
            <a:r>
              <a:rPr lang="en-US" dirty="0"/>
              <a:t>’ goal of identifying unusual weather patterns and detecting early signs of climate change.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56642-E155-7315-DE1C-3AADF43AC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43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579C8-2DB0-75EC-E781-EA774603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B6AF3-E7DC-7DE1-906C-71CD428C7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64A8A-DA9D-4C4A-58E2-ABC2BC9CF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thought experiment focuses on predicting extreme weather events using deep learning.</a:t>
            </a:r>
          </a:p>
          <a:p>
            <a:r>
              <a:rPr lang="en-US" dirty="0"/>
              <a:t>Convolutional neural networks were explored to determine whether they could better classify rare or extreme conditions compared to traditional models.</a:t>
            </a:r>
          </a:p>
          <a:p>
            <a:r>
              <a:rPr lang="en-US" dirty="0"/>
              <a:t>Extreme weather events are often complex and nonlinear, which makes them difficult to detect using simpler approaches.</a:t>
            </a:r>
          </a:p>
          <a:p>
            <a:r>
              <a:rPr lang="en-US" dirty="0"/>
              <a:t>If successful, this method could help </a:t>
            </a:r>
            <a:r>
              <a:rPr lang="en-US" dirty="0" err="1"/>
              <a:t>ClimateWins</a:t>
            </a:r>
            <a:r>
              <a:rPr lang="en-US" dirty="0"/>
              <a:t> improve early warning systems and better prepare for high-risk weather scenarios.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D4CDC-56ED-D86F-4AB3-4931EEEED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12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55DB-F606-CBD1-B20C-4684CD9C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D443F-1960-2EE7-0DDD-2BA6ABE2F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E4F64-D168-C000-FC5E-89F2DC0E1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thought experiment looks toward the future and explores the use of generative models.</a:t>
            </a:r>
          </a:p>
          <a:p>
            <a:r>
              <a:rPr lang="en-US" dirty="0"/>
              <a:t>Generative Adversarial Networks, or GANs, could potentially be used to simulate realistic future weather scenarios based on historical trends.</a:t>
            </a:r>
          </a:p>
          <a:p>
            <a:r>
              <a:rPr lang="en-US" dirty="0"/>
              <a:t>This would be especially valuable for rare events where limited data exists.</a:t>
            </a:r>
          </a:p>
          <a:p>
            <a:r>
              <a:rPr lang="en-US" dirty="0"/>
              <a:t>While this approach is still experimental and would require careful validation, it represents a promising long-term strategy for </a:t>
            </a:r>
            <a:r>
              <a:rPr lang="en-US" dirty="0" err="1"/>
              <a:t>ClimateWins</a:t>
            </a:r>
            <a:r>
              <a:rPr lang="en-US" dirty="0"/>
              <a:t> as computational resources and climate data continue to expand.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02D0A-EE15-A63B-4FAC-1CBFA4AD9F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4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C0F3-DCF1-163A-B879-DC82D2C9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61692-6A69-1F82-1689-F476D5DB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D4A45-C740-B15F-7602-0C43E1871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machine learning approach explored in this project offers different strengths.</a:t>
            </a:r>
          </a:p>
          <a:p>
            <a:r>
              <a:rPr lang="en-US" dirty="0"/>
              <a:t>Random Forest models are highly interpretable, cost-effective, and well-suited for stakeholder communication.</a:t>
            </a:r>
          </a:p>
          <a:p>
            <a:r>
              <a:rPr lang="en-US" dirty="0"/>
              <a:t>Deep learning models, such as CNNs, offer improved predictive power but require more data and computational resources.</a:t>
            </a:r>
          </a:p>
          <a:p>
            <a:r>
              <a:rPr lang="en-US" dirty="0"/>
              <a:t>GANs represent a high-risk, high-reward approach that may be more appropriate for future research rather than immediate deployment.</a:t>
            </a:r>
          </a:p>
          <a:p>
            <a:r>
              <a:rPr lang="en-US" dirty="0"/>
              <a:t>Selecting the right model depends on balancing performance, transparency, and feasibility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B63A-DB6F-1CF6-071D-5219252D3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50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results of this project, several recommendations can be made.</a:t>
            </a:r>
          </a:p>
          <a:p>
            <a:r>
              <a:rPr lang="en-US" dirty="0"/>
              <a:t>In the short term, </a:t>
            </a:r>
            <a:r>
              <a:rPr lang="en-US" dirty="0" err="1"/>
              <a:t>ClimateWins</a:t>
            </a:r>
            <a:r>
              <a:rPr lang="en-US" dirty="0"/>
              <a:t> should focus on Random Forest models combined with clustering techniques to identify anomalies and explain results clearly to stakeholders.</a:t>
            </a:r>
          </a:p>
          <a:p>
            <a:r>
              <a:rPr lang="en-US" dirty="0"/>
              <a:t>In the medium term, expanding deep learning models could improve the prediction of extreme weather events.</a:t>
            </a:r>
          </a:p>
          <a:p>
            <a:r>
              <a:rPr lang="en-US" dirty="0"/>
              <a:t>In the long term, further research into generative models may support future climate scenario planning.</a:t>
            </a:r>
          </a:p>
          <a:p>
            <a:r>
              <a:rPr lang="en-US" dirty="0"/>
              <a:t>Next steps include integrating additional datasets, testing models on projected climate data, and refining evaluation metrics based on </a:t>
            </a:r>
            <a:r>
              <a:rPr lang="en-US" dirty="0" err="1"/>
              <a:t>ClimateWins</a:t>
            </a:r>
            <a:r>
              <a:rPr lang="en-US" dirty="0"/>
              <a:t>’ operational goals.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 and attention.</a:t>
            </a:r>
          </a:p>
          <a:p>
            <a:r>
              <a:rPr lang="en-US" dirty="0"/>
              <a:t>This project demonstrates how machine learning can support </a:t>
            </a:r>
            <a:r>
              <a:rPr lang="en-US" dirty="0" err="1"/>
              <a:t>ClimateWins</a:t>
            </a:r>
            <a:r>
              <a:rPr lang="en-US" dirty="0"/>
              <a:t> in understanding climate change, preparing for future risks, and making informed, data-driven decisions.</a:t>
            </a:r>
          </a:p>
          <a:p>
            <a:r>
              <a:rPr lang="en-US" dirty="0"/>
              <a:t>I’m happy to answer any questions or discuss these approaches further.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irimeteo.com/2026/01/16/today-europe-weather-forecast-16-jan-2026/" TargetMode="External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gi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futurism.com/predicting-2017-the-rise-of-synthetic-intelligence/" TargetMode="External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.oregonstate.education/climatechange/chapter/processes/" TargetMode="External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ucatifamily/ClimateWins-Weather-Prediction1" TargetMode="External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7.svg"/><Relationship Id="rId4" Type="http://schemas.openxmlformats.org/officeDocument/2006/relationships/image" Target="../media/image20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83" y="1635195"/>
            <a:ext cx="29337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311" y="4896155"/>
            <a:ext cx="4492828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3713" y="4397388"/>
            <a:ext cx="190500" cy="6191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63683" y="2388965"/>
            <a:ext cx="604837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7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ClimateWins: Using Machine Learning to Predict European Weather Patterns</a:t>
            </a:r>
            <a:endParaRPr lang="en-US" sz="2775" dirty="0"/>
          </a:p>
        </p:txBody>
      </p:sp>
      <p:sp>
        <p:nvSpPr>
          <p:cNvPr id="8" name="Text 1"/>
          <p:cNvSpPr/>
          <p:nvPr/>
        </p:nvSpPr>
        <p:spPr>
          <a:xfrm>
            <a:off x="5495639" y="4397388"/>
            <a:ext cx="23526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9650"/>
              </a:lnSpc>
              <a:buNone/>
            </a:pPr>
            <a:r>
              <a:rPr lang="en-US" sz="1350" dirty="0">
                <a:solidFill>
                  <a:srgbClr val="E7976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Machine Learning with Python</a:t>
            </a:r>
            <a:endParaRPr lang="en-US" sz="1350" dirty="0"/>
          </a:p>
        </p:txBody>
      </p:sp>
      <p:sp>
        <p:nvSpPr>
          <p:cNvPr id="9" name="Text 2"/>
          <p:cNvSpPr/>
          <p:nvPr/>
        </p:nvSpPr>
        <p:spPr>
          <a:xfrm>
            <a:off x="765845" y="1808731"/>
            <a:ext cx="2257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59333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Kristina Noriega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8345653" y="4397388"/>
            <a:ext cx="942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9650"/>
              </a:lnSpc>
              <a:buNone/>
            </a:pPr>
            <a:r>
              <a:rPr lang="en-US" sz="1350" dirty="0">
                <a:solidFill>
                  <a:srgbClr val="E7976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2025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E7976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D69D4E85-21B5-B359-B656-F1A57E3B912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8454" y="1808731"/>
            <a:ext cx="1645920" cy="164592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122" y="4905699"/>
            <a:ext cx="4322121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94" y="4373004"/>
            <a:ext cx="190500" cy="66243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49644" y="876123"/>
            <a:ext cx="3629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Objectives &amp; </a:t>
            </a:r>
            <a: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</a:t>
            </a:r>
            <a:endParaRPr lang="en-US" sz="2400" dirty="0"/>
          </a:p>
        </p:txBody>
      </p:sp>
      <p:sp>
        <p:nvSpPr>
          <p:cNvPr id="7" name="Text 1"/>
          <p:cNvSpPr/>
          <p:nvPr/>
        </p:nvSpPr>
        <p:spPr>
          <a:xfrm>
            <a:off x="683827" y="4397388"/>
            <a:ext cx="24860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9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ClimateWins: Machine Learning for Weather Prediction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463683" y="1862211"/>
            <a:ext cx="361498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Identify weather patterns outside regional norms</a:t>
            </a:r>
            <a:endParaRPr lang="en-US" sz="1350" dirty="0"/>
          </a:p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Determine whether unusual weather events are increasing</a:t>
            </a:r>
            <a:endParaRPr lang="en-US" sz="1350" dirty="0"/>
          </a:p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Explore future weather conditions over 25–50 years</a:t>
            </a:r>
            <a:endParaRPr lang="en-US" sz="1350" dirty="0"/>
          </a:p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Support decisions about long-term climate safety in Europe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E4449C-B6B0-592D-866D-796856EB92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b="3464"/>
          <a:stretch>
            <a:fillRect/>
          </a:stretch>
        </p:blipFill>
        <p:spPr>
          <a:xfrm>
            <a:off x="5650797" y="380600"/>
            <a:ext cx="3897760" cy="4134898"/>
          </a:xfrm>
          <a:prstGeom prst="rect">
            <a:avLst/>
          </a:prstGeom>
        </p:spPr>
      </p:pic>
      <p:pic>
        <p:nvPicPr>
          <p:cNvPr id="15" name="Camera 14">
            <a:extLst>
              <a:ext uri="{FF2B5EF4-FFF2-40B4-BE49-F238E27FC236}">
                <a16:creationId xmlns:a16="http://schemas.microsoft.com/office/drawing/2014/main" id="{06040BC5-F46E-4FB3-99D6-562F4B730E0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3327" y="3227745"/>
            <a:ext cx="1645920" cy="164592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EF4AC-0016-B79E-9864-64ABC407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EB33F59-D55E-1AEE-51C4-A4CC200B8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66E2C05-81EC-8B9F-1C83-62E24F2AB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289" y="926926"/>
            <a:ext cx="333375" cy="352425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809BF3C1-D7A2-C023-6D78-DAFE58278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94" y="4373004"/>
            <a:ext cx="190500" cy="662434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D92BF8E9-743B-BB05-0D70-4AD3F34ED814}"/>
              </a:ext>
            </a:extLst>
          </p:cNvPr>
          <p:cNvSpPr/>
          <p:nvPr/>
        </p:nvSpPr>
        <p:spPr>
          <a:xfrm>
            <a:off x="395373" y="1094045"/>
            <a:ext cx="301014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85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</a:rPr>
              <a:t>Machine Learning Approaches Explored</a:t>
            </a:r>
            <a:endParaRPr lang="en-US" sz="285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41465C4-2D08-DDAD-5E9D-A107D4DBED27}"/>
              </a:ext>
            </a:extLst>
          </p:cNvPr>
          <p:cNvSpPr/>
          <p:nvPr/>
        </p:nvSpPr>
        <p:spPr>
          <a:xfrm>
            <a:off x="4091121" y="924097"/>
            <a:ext cx="4857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Methods: Unsupervised Learning (PCA, clustering), Deep Learning (CNN), Random Forest, and Generative Models (GANs).</a:t>
            </a:r>
            <a:endParaRPr lang="en-US" sz="13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711C588-36D3-30FF-8006-046B5008D51C}"/>
              </a:ext>
            </a:extLst>
          </p:cNvPr>
          <p:cNvSpPr/>
          <p:nvPr/>
        </p:nvSpPr>
        <p:spPr>
          <a:xfrm>
            <a:off x="3561988" y="984075"/>
            <a:ext cx="276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25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DDD31F0-AD50-361D-EF25-523C0C2641C9}"/>
              </a:ext>
            </a:extLst>
          </p:cNvPr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BA2EEDEF-EF7C-9B10-9254-154B4BC18963}"/>
              </a:ext>
            </a:extLst>
          </p:cNvPr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473B61-4E55-5473-4273-39FAA1737D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526539" y="1652897"/>
            <a:ext cx="5324406" cy="3547753"/>
          </a:xfrm>
          <a:prstGeom prst="rect">
            <a:avLst/>
          </a:prstGeom>
        </p:spPr>
      </p:pic>
      <p:pic>
        <p:nvPicPr>
          <p:cNvPr id="26" name="Camera 25">
            <a:extLst>
              <a:ext uri="{FF2B5EF4-FFF2-40B4-BE49-F238E27FC236}">
                <a16:creationId xmlns:a16="http://schemas.microsoft.com/office/drawing/2014/main" id="{FC855C11-9EDF-C6E0-817D-A1495F81F0C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1843" y="3774643"/>
            <a:ext cx="1645920" cy="164592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937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746" y="618943"/>
            <a:ext cx="333375" cy="3524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746" y="1623488"/>
            <a:ext cx="333375" cy="3524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134" y="1082468"/>
            <a:ext cx="190500" cy="43725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94" y="4373004"/>
            <a:ext cx="190500" cy="662434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54026" y="1318546"/>
            <a:ext cx="26003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85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Used and Additional Data Needed</a:t>
            </a:r>
            <a:endParaRPr lang="en-US" sz="2850" dirty="0"/>
          </a:p>
        </p:txBody>
      </p:sp>
      <p:sp>
        <p:nvSpPr>
          <p:cNvPr id="12" name="Text 1"/>
          <p:cNvSpPr/>
          <p:nvPr/>
        </p:nvSpPr>
        <p:spPr>
          <a:xfrm>
            <a:off x="4140578" y="1618078"/>
            <a:ext cx="4857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Additional Data Needed: Climate projections, geographic data, population/infrastructure data, and extreme weather records.</a:t>
            </a:r>
            <a:endParaRPr lang="en-US" sz="1350" dirty="0"/>
          </a:p>
        </p:txBody>
      </p:sp>
      <p:sp>
        <p:nvSpPr>
          <p:cNvPr id="14" name="Text 3"/>
          <p:cNvSpPr/>
          <p:nvPr/>
        </p:nvSpPr>
        <p:spPr>
          <a:xfrm>
            <a:off x="4140578" y="618943"/>
            <a:ext cx="4857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Data Used: Historical European weather observations including temperature, precipitation, radiation, and sunshine.</a:t>
            </a:r>
            <a:endParaRPr lang="en-US" sz="1350" dirty="0"/>
          </a:p>
        </p:txBody>
      </p:sp>
      <p:sp>
        <p:nvSpPr>
          <p:cNvPr id="16" name="Text 5"/>
          <p:cNvSpPr/>
          <p:nvPr/>
        </p:nvSpPr>
        <p:spPr>
          <a:xfrm>
            <a:off x="3611445" y="676093"/>
            <a:ext cx="276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25" dirty="0"/>
          </a:p>
        </p:txBody>
      </p:sp>
      <p:sp>
        <p:nvSpPr>
          <p:cNvPr id="17" name="Text 6"/>
          <p:cNvSpPr/>
          <p:nvPr/>
        </p:nvSpPr>
        <p:spPr>
          <a:xfrm>
            <a:off x="3611436" y="1684753"/>
            <a:ext cx="276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25" dirty="0"/>
          </a:p>
        </p:txBody>
      </p:sp>
      <p:sp>
        <p:nvSpPr>
          <p:cNvPr id="19" name="Text 8"/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4D8103-C55F-31DC-5963-62C0682F9F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-1" b="32024"/>
          <a:stretch>
            <a:fillRect/>
          </a:stretch>
        </p:blipFill>
        <p:spPr>
          <a:xfrm>
            <a:off x="2421990" y="2432124"/>
            <a:ext cx="5499879" cy="2885510"/>
          </a:xfrm>
          <a:prstGeom prst="rect">
            <a:avLst/>
          </a:prstGeom>
        </p:spPr>
      </p:pic>
      <p:pic>
        <p:nvPicPr>
          <p:cNvPr id="26" name="Camera 25">
            <a:extLst>
              <a:ext uri="{FF2B5EF4-FFF2-40B4-BE49-F238E27FC236}">
                <a16:creationId xmlns:a16="http://schemas.microsoft.com/office/drawing/2014/main" id="{2D20A8C0-48A9-073F-BF34-CA29175B304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1843" y="3671714"/>
            <a:ext cx="1645920" cy="164592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7A57-5D61-A9F9-EC5A-18FFF3AB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77490E7-B446-E687-C2CB-D9B29EF61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36739"/>
            <a:ext cx="9753600" cy="54864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3D9C430-BFAA-3059-F44F-141CBEEFD354}"/>
              </a:ext>
            </a:extLst>
          </p:cNvPr>
          <p:cNvSpPr/>
          <p:nvPr/>
        </p:nvSpPr>
        <p:spPr>
          <a:xfrm>
            <a:off x="463683" y="308643"/>
            <a:ext cx="3629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Thought Experiment </a:t>
            </a:r>
            <a:b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One: </a:t>
            </a:r>
            <a: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 Discovery</a:t>
            </a:r>
            <a:endParaRPr lang="en-US" sz="2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0DD1606-C9D4-18D9-7028-6B213F46DD70}"/>
              </a:ext>
            </a:extLst>
          </p:cNvPr>
          <p:cNvSpPr/>
          <p:nvPr/>
        </p:nvSpPr>
        <p:spPr>
          <a:xfrm>
            <a:off x="463683" y="2509495"/>
            <a:ext cx="4724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30AE24F-EDE5-1B04-5335-DC536747A401}"/>
              </a:ext>
            </a:extLst>
          </p:cNvPr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818B1FA-772A-3299-AD5A-966467D471C2}"/>
              </a:ext>
            </a:extLst>
          </p:cNvPr>
          <p:cNvSpPr/>
          <p:nvPr/>
        </p:nvSpPr>
        <p:spPr>
          <a:xfrm>
            <a:off x="463683" y="-15946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B9F82-582C-A98A-5788-19DF318AAA5D}"/>
              </a:ext>
            </a:extLst>
          </p:cNvPr>
          <p:cNvSpPr txBox="1"/>
          <p:nvPr/>
        </p:nvSpPr>
        <p:spPr>
          <a:xfrm>
            <a:off x="367060" y="1146710"/>
            <a:ext cx="45403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Question:</a:t>
            </a:r>
          </a:p>
          <a:p>
            <a:r>
              <a:rPr lang="en-US" sz="1200" dirty="0"/>
              <a:t>Can unsupervised learning identify emerging or shifting weather patterns in Europe before they are obvious to humans?</a:t>
            </a:r>
          </a:p>
          <a:p>
            <a:endParaRPr lang="en-US" sz="1200" dirty="0"/>
          </a:p>
          <a:p>
            <a:r>
              <a:rPr lang="en-US" sz="1200" dirty="0"/>
              <a:t>Machine Learning Method:</a:t>
            </a:r>
          </a:p>
          <a:p>
            <a:r>
              <a:rPr lang="en-US" sz="1200" dirty="0"/>
              <a:t>• Principal Component Analysis (PCA)</a:t>
            </a:r>
          </a:p>
          <a:p>
            <a:r>
              <a:rPr lang="en-US" sz="1200" dirty="0"/>
              <a:t>• Clustering (e.g., k-means or hierarchical clustering)</a:t>
            </a:r>
          </a:p>
          <a:p>
            <a:endParaRPr lang="en-US" sz="1200" dirty="0"/>
          </a:p>
          <a:p>
            <a:r>
              <a:rPr lang="en-US" sz="1200" dirty="0"/>
              <a:t>Approach:</a:t>
            </a:r>
          </a:p>
          <a:p>
            <a:r>
              <a:rPr lang="en-US" sz="1200" dirty="0"/>
              <a:t>• Reduce complex weather variables into core dimensions</a:t>
            </a:r>
          </a:p>
          <a:p>
            <a:r>
              <a:rPr lang="en-US" sz="1200" dirty="0"/>
              <a:t>• Group weather observations based on similarity rather than labels</a:t>
            </a:r>
          </a:p>
          <a:p>
            <a:r>
              <a:rPr lang="en-US" sz="1200" dirty="0"/>
              <a:t>• Track whether clusters shift over time</a:t>
            </a:r>
          </a:p>
          <a:p>
            <a:endParaRPr lang="en-US" sz="1200" dirty="0"/>
          </a:p>
          <a:p>
            <a:r>
              <a:rPr lang="en-US" sz="1200" dirty="0"/>
              <a:t>Value to </a:t>
            </a:r>
            <a:r>
              <a:rPr lang="en-US" sz="1200" dirty="0" err="1"/>
              <a:t>ClimateWins</a:t>
            </a:r>
            <a:r>
              <a:rPr lang="en-US" sz="1200" dirty="0"/>
              <a:t>:</a:t>
            </a:r>
          </a:p>
          <a:p>
            <a:r>
              <a:rPr lang="en-US" sz="1200" dirty="0"/>
              <a:t>• Early detection of climate anomalies</a:t>
            </a:r>
          </a:p>
          <a:p>
            <a:r>
              <a:rPr lang="en-US" sz="1200" dirty="0"/>
              <a:t>• Identification of regions moving outside historical norms</a:t>
            </a:r>
          </a:p>
          <a:p>
            <a:r>
              <a:rPr lang="en-US" sz="1200" dirty="0"/>
              <a:t>• Supports long-term climate monitoring and risk assessment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D577CE-FA12-0583-1355-5328FE13B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281" y="1303740"/>
            <a:ext cx="4713684" cy="29175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0DE34D-A00E-9F73-D120-CA0E7B8D6970}"/>
              </a:ext>
            </a:extLst>
          </p:cNvPr>
          <p:cNvSpPr txBox="1"/>
          <p:nvPr/>
        </p:nvSpPr>
        <p:spPr>
          <a:xfrm>
            <a:off x="5156812" y="4356114"/>
            <a:ext cx="4713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Figure: Hierarchical clustering of PCA-reduced European weather data, showing distinct groupings of similar weather patterns without predefined labels.</a:t>
            </a:r>
          </a:p>
          <a:p>
            <a:endParaRPr lang="en-US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894B542B-6054-0BF4-D4DE-A65DC9C39F0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9869" y="-439459"/>
            <a:ext cx="1645920" cy="164592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333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F264-F703-7C83-105A-7F1ABC65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2AB28DE-F4CF-9DCA-7E4E-290F97510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5C952D5-BFEE-1B56-8E85-C970FDAA68A3}"/>
              </a:ext>
            </a:extLst>
          </p:cNvPr>
          <p:cNvSpPr/>
          <p:nvPr/>
        </p:nvSpPr>
        <p:spPr>
          <a:xfrm>
            <a:off x="463683" y="800857"/>
            <a:ext cx="3629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Thought Experiment Two:</a:t>
            </a:r>
            <a:b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Predicting Extreme Weather</a:t>
            </a:r>
            <a:endParaRPr lang="en-US" sz="2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90A61E0-988B-86A3-7F35-EEB129237F82}"/>
              </a:ext>
            </a:extLst>
          </p:cNvPr>
          <p:cNvSpPr/>
          <p:nvPr/>
        </p:nvSpPr>
        <p:spPr>
          <a:xfrm>
            <a:off x="463683" y="2509495"/>
            <a:ext cx="4724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95CABE3-DE2A-CC1B-4F34-1E9CE1BB8677}"/>
              </a:ext>
            </a:extLst>
          </p:cNvPr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DD911B4-6C20-BD60-2B9C-5762DD37A2E3}"/>
              </a:ext>
            </a:extLst>
          </p:cNvPr>
          <p:cNvSpPr/>
          <p:nvPr/>
        </p:nvSpPr>
        <p:spPr>
          <a:xfrm>
            <a:off x="463683" y="216437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3124B-E43E-EDAB-B067-0BC223BF5A95}"/>
              </a:ext>
            </a:extLst>
          </p:cNvPr>
          <p:cNvSpPr txBox="1"/>
          <p:nvPr/>
        </p:nvSpPr>
        <p:spPr>
          <a:xfrm>
            <a:off x="389259" y="1588651"/>
            <a:ext cx="48732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Question:</a:t>
            </a:r>
          </a:p>
          <a:p>
            <a:r>
              <a:rPr lang="en-US" sz="1200" dirty="0"/>
              <a:t>Can deep learning models improve prediction of extreme or rare weather events?</a:t>
            </a:r>
          </a:p>
          <a:p>
            <a:endParaRPr lang="en-US" sz="1200" dirty="0"/>
          </a:p>
          <a:p>
            <a:r>
              <a:rPr lang="en-US" sz="1200" dirty="0"/>
              <a:t>Machine Learning Method:</a:t>
            </a:r>
          </a:p>
          <a:p>
            <a:r>
              <a:rPr lang="en-US" sz="1200" dirty="0"/>
              <a:t>• Convolutional Neural Networks (CNN)</a:t>
            </a:r>
          </a:p>
          <a:p>
            <a:endParaRPr lang="en-US" sz="1200" dirty="0"/>
          </a:p>
          <a:p>
            <a:r>
              <a:rPr lang="en-US" sz="1200" dirty="0"/>
              <a:t>Approach:</a:t>
            </a:r>
          </a:p>
          <a:p>
            <a:r>
              <a:rPr lang="en-US" sz="1200" dirty="0"/>
              <a:t>• Learn complex, non-linear relationships in weather data</a:t>
            </a:r>
          </a:p>
          <a:p>
            <a:r>
              <a:rPr lang="en-US" sz="1200" dirty="0"/>
              <a:t>• Classify weather observations into normal vs. extreme conditions</a:t>
            </a:r>
          </a:p>
          <a:p>
            <a:r>
              <a:rPr lang="en-US" sz="1200" dirty="0"/>
              <a:t>• Improve detection of rare but high-impact events</a:t>
            </a:r>
          </a:p>
          <a:p>
            <a:endParaRPr lang="en-US" sz="1200" dirty="0"/>
          </a:p>
          <a:p>
            <a:r>
              <a:rPr lang="en-US" sz="1200" dirty="0"/>
              <a:t>Value to </a:t>
            </a:r>
            <a:r>
              <a:rPr lang="en-US" sz="1200" dirty="0" err="1"/>
              <a:t>ClimateWins</a:t>
            </a:r>
            <a:r>
              <a:rPr lang="en-US" sz="1200" dirty="0"/>
              <a:t>:</a:t>
            </a:r>
          </a:p>
          <a:p>
            <a:r>
              <a:rPr lang="en-US" sz="1200" dirty="0"/>
              <a:t>• Earlier identification of extreme weather risks</a:t>
            </a:r>
          </a:p>
          <a:p>
            <a:r>
              <a:rPr lang="en-US" sz="1200" dirty="0"/>
              <a:t>• Improved preparedness and response planning</a:t>
            </a:r>
          </a:p>
          <a:p>
            <a:r>
              <a:rPr lang="en-US" sz="1200" dirty="0"/>
              <a:t>• Supports climate-related safety decisions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02324B-25A3-1D2F-1E65-8ACBEB662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4393" y="1477515"/>
            <a:ext cx="4309207" cy="32692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20F85-8DDE-8E0E-E6F7-65AE764B0837}"/>
              </a:ext>
            </a:extLst>
          </p:cNvPr>
          <p:cNvSpPr txBox="1"/>
          <p:nvPr/>
        </p:nvSpPr>
        <p:spPr>
          <a:xfrm>
            <a:off x="5673998" y="4614414"/>
            <a:ext cx="42614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Figure: Confusion matrix showing CNN classification performance</a:t>
            </a:r>
          </a:p>
          <a:p>
            <a:r>
              <a:rPr lang="en-US" sz="1200" dirty="0"/>
              <a:t>for extreme versus non-extreme weather conditions.</a:t>
            </a:r>
          </a:p>
          <a:p>
            <a:endParaRPr lang="en-US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021966C1-8601-3E41-F89C-D2540786358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6192" y="3598797"/>
            <a:ext cx="1645920" cy="164592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805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0C3E-395F-929F-D52D-807B8A9B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8C8C568-CF95-DA7A-C650-AF5E2D355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2FCA681-5015-E32F-9954-43228658FECD}"/>
              </a:ext>
            </a:extLst>
          </p:cNvPr>
          <p:cNvSpPr/>
          <p:nvPr/>
        </p:nvSpPr>
        <p:spPr>
          <a:xfrm>
            <a:off x="459597" y="795988"/>
            <a:ext cx="45039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66563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Thought Experiment Three: </a:t>
            </a:r>
            <a:b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24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Simulating Future Scenarios</a:t>
            </a:r>
            <a:endParaRPr lang="en-US" sz="2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60115AB-BE17-CC21-AE7C-C1C97EEB9874}"/>
              </a:ext>
            </a:extLst>
          </p:cNvPr>
          <p:cNvSpPr/>
          <p:nvPr/>
        </p:nvSpPr>
        <p:spPr>
          <a:xfrm>
            <a:off x="463683" y="2509495"/>
            <a:ext cx="4724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86166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6B06807-4A66-D67F-EF0C-731DFB64AB37}"/>
              </a:ext>
            </a:extLst>
          </p:cNvPr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2A156D5-65AE-8219-567D-DBDB06A59CBE}"/>
              </a:ext>
            </a:extLst>
          </p:cNvPr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D10FD4-A764-AE3D-A373-9BB0BA9F3790}"/>
              </a:ext>
            </a:extLst>
          </p:cNvPr>
          <p:cNvSpPr txBox="1"/>
          <p:nvPr/>
        </p:nvSpPr>
        <p:spPr>
          <a:xfrm>
            <a:off x="386862" y="1552228"/>
            <a:ext cx="480122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Question:</a:t>
            </a:r>
          </a:p>
          <a:p>
            <a:r>
              <a:rPr lang="en-US" sz="1400" dirty="0"/>
              <a:t>Can synthetic data generation help simulate future or rare weather scenarios?</a:t>
            </a:r>
          </a:p>
          <a:p>
            <a:endParaRPr lang="en-US" sz="1400" dirty="0"/>
          </a:p>
          <a:p>
            <a:r>
              <a:rPr lang="en-US" sz="1400" dirty="0"/>
              <a:t>Machine Learning Method:</a:t>
            </a:r>
          </a:p>
          <a:p>
            <a:r>
              <a:rPr lang="en-US" sz="1400" dirty="0"/>
              <a:t>• Generative Adversarial Networks (GANs)</a:t>
            </a:r>
          </a:p>
          <a:p>
            <a:endParaRPr lang="en-US" sz="1400" dirty="0"/>
          </a:p>
          <a:p>
            <a:r>
              <a:rPr lang="en-US" sz="1400" dirty="0"/>
              <a:t>Approach:</a:t>
            </a:r>
          </a:p>
          <a:p>
            <a:r>
              <a:rPr lang="en-US" sz="1400" dirty="0"/>
              <a:t>• Learn distributions from historical weather data</a:t>
            </a:r>
          </a:p>
          <a:p>
            <a:r>
              <a:rPr lang="en-US" sz="1400" dirty="0"/>
              <a:t>• Generate realistic synthetic weather observations</a:t>
            </a:r>
          </a:p>
          <a:p>
            <a:r>
              <a:rPr lang="en-US" sz="1400" dirty="0"/>
              <a:t>• Augment limited extreme-weather datasets</a:t>
            </a:r>
          </a:p>
          <a:p>
            <a:endParaRPr lang="en-US" sz="1400" dirty="0"/>
          </a:p>
          <a:p>
            <a:r>
              <a:rPr lang="en-US" sz="1400" dirty="0"/>
              <a:t>Value to </a:t>
            </a:r>
            <a:r>
              <a:rPr lang="en-US" sz="1400" dirty="0" err="1"/>
              <a:t>ClimateWins</a:t>
            </a:r>
            <a:r>
              <a:rPr lang="en-US" sz="1400" dirty="0"/>
              <a:t>:</a:t>
            </a:r>
          </a:p>
          <a:p>
            <a:r>
              <a:rPr lang="en-US" sz="1400" dirty="0"/>
              <a:t>• Exploration of future climate possibilities</a:t>
            </a:r>
          </a:p>
          <a:p>
            <a:r>
              <a:rPr lang="en-US" sz="1400" dirty="0"/>
              <a:t>• Improved modeling of rare or unseen events</a:t>
            </a:r>
          </a:p>
          <a:p>
            <a:r>
              <a:rPr lang="en-US" sz="1400" dirty="0"/>
              <a:t>• Supports long-term climate risk planning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D06B8F-D69D-81FF-412D-7B3AC5A06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3568" y="2109677"/>
            <a:ext cx="4523360" cy="3015573"/>
          </a:xfrm>
          <a:prstGeom prst="rect">
            <a:avLst/>
          </a:prstGeom>
        </p:spPr>
      </p:pic>
      <p:pic>
        <p:nvPicPr>
          <p:cNvPr id="17" name="Camera 16">
            <a:extLst>
              <a:ext uri="{FF2B5EF4-FFF2-40B4-BE49-F238E27FC236}">
                <a16:creationId xmlns:a16="http://schemas.microsoft.com/office/drawing/2014/main" id="{FDAEBFEB-53A8-DE87-0C6F-79063801989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0151" y="185033"/>
            <a:ext cx="1645920" cy="164592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059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EC22-200A-EAEF-0BBB-0209CDA8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B2B375-6C09-5A9B-6603-C4F044A2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A7B9474-BCF5-3D08-5D73-B372EE43B407}"/>
              </a:ext>
            </a:extLst>
          </p:cNvPr>
          <p:cNvSpPr/>
          <p:nvPr/>
        </p:nvSpPr>
        <p:spPr>
          <a:xfrm>
            <a:off x="2024062" y="491184"/>
            <a:ext cx="5705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66563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Applications &amp; </a:t>
            </a:r>
            <a:r>
              <a:rPr lang="en-US" sz="3600" b="1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</a:t>
            </a:r>
            <a:endParaRPr lang="en-US" sz="3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2BBAECE-A126-D13D-7368-4EDDA5513991}"/>
              </a:ext>
            </a:extLst>
          </p:cNvPr>
          <p:cNvSpPr/>
          <p:nvPr/>
        </p:nvSpPr>
        <p:spPr>
          <a:xfrm>
            <a:off x="176155" y="4450833"/>
            <a:ext cx="42576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Unsupervised learning can discover emerging climate anomalies. Deep Learning (CNNs) can predict complex extreme weather events. GANs show potential for simulating future scenarios.</a:t>
            </a:r>
            <a:endParaRPr lang="en-US" sz="1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0297FD0-FB4F-CFD0-043D-9A7DCBD01A67}"/>
              </a:ext>
            </a:extLst>
          </p:cNvPr>
          <p:cNvSpPr/>
          <p:nvPr/>
        </p:nvSpPr>
        <p:spPr>
          <a:xfrm>
            <a:off x="4876799" y="4211266"/>
            <a:ext cx="425767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Comparison: Random Forest is interpretable and cost-effective. CNNs offer high predictive power but are more complex. GANs are experimental with high future potential.</a:t>
            </a:r>
            <a:endParaRPr lang="en-US" sz="13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078CBF6-7486-1FC5-7339-90C19F90949D}"/>
              </a:ext>
            </a:extLst>
          </p:cNvPr>
          <p:cNvSpPr/>
          <p:nvPr/>
        </p:nvSpPr>
        <p:spPr>
          <a:xfrm>
            <a:off x="6797773" y="4397388"/>
            <a:ext cx="24860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9650"/>
              </a:lnSpc>
              <a:buNone/>
            </a:pPr>
            <a:endParaRPr lang="en-US" sz="13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6FAD185-11E0-2822-74FD-C72B973325F6}"/>
              </a:ext>
            </a:extLst>
          </p:cNvPr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BE0CC24-CEB7-35BB-9A1F-689AC0BA4D64}"/>
              </a:ext>
            </a:extLst>
          </p:cNvPr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385B7E-04CB-9DF1-B8D1-48CF9B222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067" y="1405584"/>
            <a:ext cx="6521785" cy="2521080"/>
          </a:xfrm>
          <a:prstGeom prst="rect">
            <a:avLst/>
          </a:prstGeom>
        </p:spPr>
      </p:pic>
      <p:pic>
        <p:nvPicPr>
          <p:cNvPr id="21" name="Camera 20">
            <a:extLst>
              <a:ext uri="{FF2B5EF4-FFF2-40B4-BE49-F238E27FC236}">
                <a16:creationId xmlns:a16="http://schemas.microsoft.com/office/drawing/2014/main" id="{02267AD4-3C2E-31B2-CC4D-4C80F69388C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1843" y="2083169"/>
            <a:ext cx="1645920" cy="164592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567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630" y="4905699"/>
            <a:ext cx="4322121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94" y="4373004"/>
            <a:ext cx="190500" cy="66243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069630" y="230004"/>
            <a:ext cx="5705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66563"/>
              </a:lnSpc>
              <a:buNone/>
            </a:pPr>
            <a:br>
              <a:rPr lang="en-US" sz="3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3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Recommendations and Next Steps</a:t>
            </a:r>
            <a:endParaRPr lang="en-US" sz="3600" dirty="0"/>
          </a:p>
        </p:txBody>
      </p:sp>
      <p:sp>
        <p:nvSpPr>
          <p:cNvPr id="10" name="Text 4"/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F8D5D-B6FD-5401-4338-6A28804DED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603" r="50046" b="25249"/>
          <a:stretch>
            <a:fillRect/>
          </a:stretch>
        </p:blipFill>
        <p:spPr>
          <a:xfrm>
            <a:off x="2761306" y="1644161"/>
            <a:ext cx="4322121" cy="2892669"/>
          </a:xfrm>
          <a:prstGeom prst="rect">
            <a:avLst/>
          </a:prstGeom>
        </p:spPr>
      </p:pic>
      <p:pic>
        <p:nvPicPr>
          <p:cNvPr id="17" name="Camera 16">
            <a:extLst>
              <a:ext uri="{FF2B5EF4-FFF2-40B4-BE49-F238E27FC236}">
                <a16:creationId xmlns:a16="http://schemas.microsoft.com/office/drawing/2014/main" id="{09CA7E41-B97F-AFE8-0AD3-C6E2D704E22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1843" y="3774643"/>
            <a:ext cx="1645920" cy="164592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1164831"/>
            <a:ext cx="8334375" cy="15525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94" y="4373004"/>
            <a:ext cx="190500" cy="6624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9630" y="4905699"/>
            <a:ext cx="4322121" cy="190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63683" y="2053219"/>
            <a:ext cx="48006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3116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6797773" y="4397388"/>
            <a:ext cx="24860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79650"/>
              </a:lnSpc>
              <a:buNone/>
            </a:pPr>
            <a:r>
              <a:rPr lang="en-US" sz="1350" dirty="0">
                <a:solidFill>
                  <a:srgbClr val="E7976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Kristina Noriega | Machine Learning with Python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7857039" y="463757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73116"/>
              </a:lnSpc>
              <a:buNone/>
            </a:pPr>
            <a:r>
              <a:rPr lang="en-US" sz="1500" dirty="0">
                <a:solidFill>
                  <a:srgbClr val="E7976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////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63683" y="468129"/>
            <a:ext cx="2247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350" dirty="0">
                <a:solidFill>
                  <a:srgbClr val="E797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ClimateWins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458325" y="5200650"/>
            <a:ext cx="295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u="none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9DEBD4E-D9BC-8172-CE5D-AA037EB674D0}"/>
              </a:ext>
            </a:extLst>
          </p:cNvPr>
          <p:cNvSpPr/>
          <p:nvPr/>
        </p:nvSpPr>
        <p:spPr>
          <a:xfrm>
            <a:off x="729902" y="4088323"/>
            <a:ext cx="24860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79650"/>
              </a:lnSpc>
            </a:pPr>
            <a:r>
              <a:rPr lang="en-US" sz="1350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GitHub:  </a:t>
            </a:r>
            <a:r>
              <a:rPr lang="en-US" sz="1400" dirty="0" err="1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ducatifamily</a:t>
            </a:r>
            <a:r>
              <a:rPr lang="en-US" sz="14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/ClimateWins-Weather-Prediction1: Machine learning analysis of European weather data for </a:t>
            </a:r>
            <a:r>
              <a:rPr lang="en-US" sz="1400" dirty="0" err="1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ClimateWins</a:t>
            </a:r>
            <a:endParaRPr lang="en-US" sz="1350" dirty="0">
              <a:solidFill>
                <a:schemeClr val="bg1"/>
              </a:solidFill>
            </a:endParaRPr>
          </a:p>
        </p:txBody>
      </p:sp>
      <p:pic>
        <p:nvPicPr>
          <p:cNvPr id="14" name="Camera 13">
            <a:extLst>
              <a:ext uri="{FF2B5EF4-FFF2-40B4-BE49-F238E27FC236}">
                <a16:creationId xmlns:a16="http://schemas.microsoft.com/office/drawing/2014/main" id="{8952E324-C9B3-5833-9F9E-FC71216EA30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7039" y="2495057"/>
            <a:ext cx="1645920" cy="164592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1404</Words>
  <Application>Microsoft Office PowerPoint</Application>
  <PresentationFormat>Custom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Space Grotesk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Reviewer</cp:lastModifiedBy>
  <cp:revision>6</cp:revision>
  <dcterms:created xsi:type="dcterms:W3CDTF">2026-01-18T21:54:09Z</dcterms:created>
  <dcterms:modified xsi:type="dcterms:W3CDTF">2026-01-18T22:40:46Z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524F1832-2C37-4000-8E33-3E14259EB197</vt:lpwstr>
  </property>
  <property fmtid="{D5CDD505-2E9C-101B-9397-08002B2CF9AE}" pid="3" name="ArticulatePath">
    <vt:lpwstr>ClimateWins ML Presentation</vt:lpwstr>
  </property>
</Properties>
</file>